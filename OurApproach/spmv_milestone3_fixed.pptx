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4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34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184" y="8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Speedup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496-824B-BD65-D760B8801141}"/>
              </c:ext>
            </c:extLst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496-824B-BD65-D760B8801141}"/>
              </c:ext>
            </c:extLst>
          </c:dPt>
          <c:dPt>
            <c:idx val="2"/>
            <c:invertIfNegative val="0"/>
            <c:bubble3D val="0"/>
            <c:spPr>
              <a:solidFill>
                <a:srgbClr val="1E3A5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496-824B-BD65-D760B8801141}"/>
              </c:ext>
            </c:extLst>
          </c:dPt>
          <c:dPt>
            <c:idx val="3"/>
            <c:invertIfNegative val="0"/>
            <c:bubble3D val="0"/>
            <c:spPr>
              <a:solidFill>
                <a:srgbClr val="E05A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496-824B-BD65-D760B8801141}"/>
              </c:ext>
            </c:extLst>
          </c:dPt>
          <c:dPt>
            <c:idx val="4"/>
            <c:invertIfNegative val="0"/>
            <c:bubble3D val="0"/>
            <c:spPr>
              <a:solidFill>
                <a:srgbClr val="F5A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A496-824B-BD65-D760B880114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1. Sequential</c:v>
                </c:pt>
                <c:pt idx="1">
                  <c:v>2. OMP Scalar</c:v>
                </c:pt>
                <c:pt idx="2">
                  <c:v>3. AVX2</c:v>
                </c:pt>
                <c:pt idx="3">
                  <c:v>4. AVX2 Unrolled</c:v>
                </c:pt>
                <c:pt idx="4">
                  <c:v>5. AVX2+Prefetch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2.84</c:v>
                </c:pt>
                <c:pt idx="2">
                  <c:v>2.69</c:v>
                </c:pt>
                <c:pt idx="3">
                  <c:v>2.36</c:v>
                </c:pt>
                <c:pt idx="4">
                  <c:v>2.82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A496-824B-BD65-D760B880114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Speedup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F82-FC40-8DEA-90C2ABCBD666}"/>
              </c:ext>
            </c:extLst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F82-FC40-8DEA-90C2ABCBD666}"/>
              </c:ext>
            </c:extLst>
          </c:dPt>
          <c:dPt>
            <c:idx val="2"/>
            <c:invertIfNegative val="0"/>
            <c:bubble3D val="0"/>
            <c:spPr>
              <a:solidFill>
                <a:srgbClr val="1E3A5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F82-FC40-8DEA-90C2ABCBD666}"/>
              </c:ext>
            </c:extLst>
          </c:dPt>
          <c:dPt>
            <c:idx val="3"/>
            <c:invertIfNegative val="0"/>
            <c:bubble3D val="0"/>
            <c:spPr>
              <a:solidFill>
                <a:srgbClr val="E05A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F82-FC40-8DEA-90C2ABCBD666}"/>
              </c:ext>
            </c:extLst>
          </c:dPt>
          <c:dPt>
            <c:idx val="4"/>
            <c:invertIfNegative val="0"/>
            <c:bubble3D val="0"/>
            <c:spPr>
              <a:solidFill>
                <a:srgbClr val="F5A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4F82-FC40-8DEA-90C2ABCBD66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1. Sequential</c:v>
                </c:pt>
                <c:pt idx="1">
                  <c:v>2. OMP Scalar</c:v>
                </c:pt>
                <c:pt idx="2">
                  <c:v>3. AVX2</c:v>
                </c:pt>
                <c:pt idx="3">
                  <c:v>4. AVX2 Unrolled</c:v>
                </c:pt>
                <c:pt idx="4">
                  <c:v>5. AVX2+Prefetch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3.03</c:v>
                </c:pt>
                <c:pt idx="2">
                  <c:v>2.92</c:v>
                </c:pt>
                <c:pt idx="3">
                  <c:v>2.62</c:v>
                </c:pt>
                <c:pt idx="4">
                  <c:v>2.57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4F82-FC40-8DEA-90C2ABCBD66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.5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Speedup (×) over Sequential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thermomech_dK (regular,  CV=0.10)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OMP
Scalar</c:v>
                </c:pt>
                <c:pt idx="1">
                  <c:v>AVX2</c:v>
                </c:pt>
                <c:pt idx="2">
                  <c:v>AVX2
Unrolled</c:v>
                </c:pt>
                <c:pt idx="3">
                  <c:v>AVX2+
Prefetch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2.84</c:v>
                </c:pt>
                <c:pt idx="1">
                  <c:v>2.69</c:v>
                </c:pt>
                <c:pt idx="2">
                  <c:v>2.36</c:v>
                </c:pt>
                <c:pt idx="3">
                  <c:v>2.82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15F-4241-9213-73DBD93F7CD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ASIC_320k     (irregular, CV=61)</c:v>
                </c:pt>
              </c:strCache>
            </c:strRef>
          </c:tx>
          <c:spPr>
            <a:solidFill>
              <a:srgbClr val="E05A3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OMP
Scalar</c:v>
                </c:pt>
                <c:pt idx="1">
                  <c:v>AVX2</c:v>
                </c:pt>
                <c:pt idx="2">
                  <c:v>AVX2
Unrolled</c:v>
                </c:pt>
                <c:pt idx="3">
                  <c:v>AVX2+
Prefetch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3.03</c:v>
                </c:pt>
                <c:pt idx="1">
                  <c:v>2.92</c:v>
                </c:pt>
                <c:pt idx="2">
                  <c:v>2.62</c:v>
                </c:pt>
                <c:pt idx="3">
                  <c:v>2.57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15F-4241-9213-73DBD93F7CD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.5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Speedup (thermomech_dK, 8-thread run)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OMP Scalar</c:v>
                </c:pt>
              </c:strCache>
            </c:strRef>
          </c:tx>
          <c:spPr>
            <a:ln w="38100" cap="flat">
              <a:solidFill>
                <a:srgbClr val="0D948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1 thread
(sequential)</c:v>
                </c:pt>
                <c:pt idx="1">
                  <c:v>8 threads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1.86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D86-E145-A669-FCC93AB4097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AVX2</c:v>
                </c:pt>
              </c:strCache>
            </c:strRef>
          </c:tx>
          <c:spPr>
            <a:ln w="38100" cap="flat">
              <a:solidFill>
                <a:srgbClr val="1E3A5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E3A5F"/>
              </a:solidFill>
              <a:ln w="9525" cap="flat">
                <a:solidFill>
                  <a:srgbClr val="1E3A5F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1 thread
(sequential)</c:v>
                </c:pt>
                <c:pt idx="1">
                  <c:v>8 threads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2.61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D86-E145-A669-FCC93AB4097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AVX2 Unrolled</c:v>
                </c:pt>
              </c:strCache>
            </c:strRef>
          </c:tx>
          <c:spPr>
            <a:ln w="38100" cap="flat">
              <a:solidFill>
                <a:srgbClr val="E05A3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05A3A"/>
              </a:solidFill>
              <a:ln w="9525" cap="flat">
                <a:solidFill>
                  <a:srgbClr val="E05A3A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1 thread
(sequential)</c:v>
                </c:pt>
                <c:pt idx="1">
                  <c:v>8 threads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1</c:v>
                </c:pt>
                <c:pt idx="1">
                  <c:v>2.72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D86-E145-A669-FCC93AB4097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99606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8046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Merge-Based Parallel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Matrix-Vector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Multiplication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57200" y="3108960"/>
            <a:ext cx="8229600" cy="274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CS-3006 · Parallel &amp; Distributed Computing · Spring 2026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Umair (23i-0662)    ·    Awais Basheer (23i-0506)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069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7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Paper: Merrill &amp; Garland, SC'16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Outline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86384"/>
            <a:ext cx="8229600" cy="1828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014984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0149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00584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SpMV Problem &amp; Motivation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499616"/>
            <a:ext cx="8229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94360" y="1554480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1E3A5F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554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1545336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Merge-Path Works — Step by Step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2039112"/>
            <a:ext cx="8229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4360" y="2093976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20939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208483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Five Implementations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2578608"/>
            <a:ext cx="8229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4360" y="2633472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1E3A5F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2633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2624328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thermomech_dK (Regular Matrix)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57200" y="3118104"/>
            <a:ext cx="8229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4360" y="3172968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31729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97280" y="3163824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ASIC_320k (Irregular Matrix)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94360" y="3712464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1E3A5F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37124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97280" y="370332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Hardware-Level Analysis (Roofline)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457200" y="4197096"/>
            <a:ext cx="8229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94360" y="4251960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0D9488"/>
          </a:solidFill>
          <a:ln/>
        </p:spPr>
      </p:sp>
      <p:sp>
        <p:nvSpPr>
          <p:cNvPr id="30" name="Text 28"/>
          <p:cNvSpPr/>
          <p:nvPr/>
        </p:nvSpPr>
        <p:spPr>
          <a:xfrm>
            <a:off x="594360" y="42519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7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97280" y="4242816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&amp; Conclusions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SpMV Problem &amp; Why Balance Matters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86384"/>
            <a:ext cx="8229600" cy="1828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14400"/>
            <a:ext cx="45720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005840"/>
            <a:ext cx="4297680" cy="33832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marL="0" indent="0">
              <a:buNone/>
            </a:pPr>
            <a:endParaRPr lang="en-US" sz="1200" b="1" dirty="0">
              <a:solidFill>
                <a:srgbClr val="0D9488"/>
              </a:solidFill>
              <a:latin typeface="Calibri" pitchFamily="34" charset="0"/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0D9488"/>
                </a:solidFill>
                <a:latin typeface="Calibri" pitchFamily="34" charset="0"/>
              </a:rPr>
              <a:t> y = A · x</a:t>
            </a:r>
            <a:r>
              <a:rPr lang="en-US" sz="2400" dirty="0">
                <a:solidFill>
                  <a:srgbClr val="1E3A5F"/>
                </a:solidFill>
                <a:latin typeface="Calibri" pitchFamily="34" charset="0"/>
              </a:rPr>
              <a:t>  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</a:rPr>
              <a:t>      — core of iterative solvers, graph analytics, ML</a:t>
            </a:r>
          </a:p>
          <a:p>
            <a:pPr marL="0" indent="0">
              <a:buNone/>
            </a:pPr>
            <a:endParaRPr lang="en-US" sz="1200" dirty="0">
              <a:solidFill>
                <a:srgbClr val="1E3A5F"/>
              </a:solidFill>
              <a:latin typeface="Calibri" pitchFamily="34" charset="0"/>
            </a:endParaRP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</a:rPr>
              <a:t>Traditional Row-Based Approach</a:t>
            </a:r>
            <a:endParaRPr lang="en-US" sz="1150" dirty="0"/>
          </a:p>
          <a:p>
            <a:pPr marL="18288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</a:rPr>
              <a:t>• Assign one thread per row</a:t>
            </a:r>
            <a:endParaRPr lang="en-US" sz="1100" dirty="0"/>
          </a:p>
          <a:p>
            <a:pPr marL="18288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</a:rPr>
              <a:t>• Long rows → one thread works forever</a:t>
            </a:r>
            <a:endParaRPr lang="en-US" sz="1100" dirty="0"/>
          </a:p>
          <a:p>
            <a:pPr marL="18288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</a:rPr>
              <a:t>• Short / empty rows → threads idle</a:t>
            </a:r>
            <a:endParaRPr lang="en-US" sz="1100" dirty="0"/>
          </a:p>
          <a:p>
            <a:pPr marL="18288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</a:rPr>
              <a:t>• Performance varies up to 100× for similar nnz</a:t>
            </a:r>
            <a:endParaRPr lang="en-US" sz="1100" dirty="0"/>
          </a:p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</a:rPr>
              <a:t>Our Goal</a:t>
            </a:r>
            <a:endParaRPr lang="en-US" sz="1150" dirty="0"/>
          </a:p>
          <a:p>
            <a:pPr marL="18288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</a:rPr>
              <a:t>• Guarantee equal work per thread</a:t>
            </a:r>
            <a:endParaRPr lang="en-US" sz="1100" dirty="0"/>
          </a:p>
          <a:p>
            <a:pPr marL="18288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</a:rPr>
              <a:t>• No reformatting of CSR needed</a:t>
            </a:r>
            <a:endParaRPr lang="en-US" sz="1100" dirty="0"/>
          </a:p>
          <a:p>
            <a:pPr marL="18288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</a:rPr>
              <a:t>• Works for any sparsity pattern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257800" y="914400"/>
            <a:ext cx="33832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49240" y="9875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Row-Based Imbalance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49240" y="14173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Row 0 (empty)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349240" y="1618488"/>
            <a:ext cx="73152" cy="256032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0" name="Text 8"/>
          <p:cNvSpPr/>
          <p:nvPr/>
        </p:nvSpPr>
        <p:spPr>
          <a:xfrm>
            <a:off x="5468112" y="16184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0 nnz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349240" y="21305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Row 1 (short)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349240" y="2331720"/>
            <a:ext cx="210312" cy="2560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5605272" y="23317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1 nnz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349240" y="284378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Row 2 (medium)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49240" y="3044952"/>
            <a:ext cx="841248" cy="2560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6236208" y="30449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4 nnz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349240" y="355701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Row 3 (very long)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349240" y="3758184"/>
            <a:ext cx="2944368" cy="256032"/>
          </a:xfrm>
          <a:prstGeom prst="rect">
            <a:avLst/>
          </a:prstGeom>
          <a:solidFill>
            <a:srgbClr val="E05A3A"/>
          </a:solidFill>
          <a:ln/>
        </p:spPr>
      </p:sp>
      <p:sp>
        <p:nvSpPr>
          <p:cNvPr id="19" name="Text 17"/>
          <p:cNvSpPr/>
          <p:nvPr/>
        </p:nvSpPr>
        <p:spPr>
          <a:xfrm>
            <a:off x="8339328" y="37581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14 nnz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349240" y="42062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05A3A"/>
                </a:solidFill>
              </a:rPr>
              <a:t>Thread 3 does 14× more work than Thread 0!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Merge-Path Idea — Logical 2D Grid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86384"/>
            <a:ext cx="8229600" cy="1828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frame SpMV as merging two lists — row-offsets (List A) and nonzero indices (List B). The merge path traverses a 2D grid top-left → bottom-right. Each diagonal segment is equal-length → equal work per thread.</a:t>
            </a:r>
            <a:endParaRPr lang="en-US" sz="1250" dirty="0"/>
          </a:p>
        </p:txBody>
      </p:sp>
      <p:sp>
        <p:nvSpPr>
          <p:cNvPr id="94" name="Shape 92"/>
          <p:cNvSpPr/>
          <p:nvPr/>
        </p:nvSpPr>
        <p:spPr>
          <a:xfrm>
            <a:off x="4978895" y="1571509"/>
            <a:ext cx="3017520" cy="3344346"/>
          </a:xfrm>
          <a:prstGeom prst="rect">
            <a:avLst/>
          </a:prstGeom>
          <a:solidFill>
            <a:srgbClr val="FFFFFF"/>
          </a:solidFill>
          <a:ln w="12700">
            <a:noFill/>
            <a:prstDash val="solid"/>
          </a:ln>
          <a:effectLst/>
        </p:spPr>
      </p:sp>
      <p:sp>
        <p:nvSpPr>
          <p:cNvPr id="95" name="Text 93"/>
          <p:cNvSpPr/>
          <p:nvPr/>
        </p:nvSpPr>
        <p:spPr>
          <a:xfrm>
            <a:off x="5158223" y="1703585"/>
            <a:ext cx="2743200" cy="2640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How each thread works:</a:t>
            </a:r>
            <a:endParaRPr lang="en-US" sz="1200" dirty="0"/>
          </a:p>
        </p:txBody>
      </p:sp>
      <p:sp>
        <p:nvSpPr>
          <p:cNvPr id="96" name="Shape 94"/>
          <p:cNvSpPr/>
          <p:nvPr/>
        </p:nvSpPr>
        <p:spPr>
          <a:xfrm>
            <a:off x="5158223" y="2041875"/>
            <a:ext cx="347472" cy="299193"/>
          </a:xfrm>
          <a:prstGeom prst="roundRect">
            <a:avLst>
              <a:gd name="adj" fmla="val 15789"/>
            </a:avLst>
          </a:prstGeom>
          <a:solidFill>
            <a:srgbClr val="0D9488"/>
          </a:solidFill>
          <a:ln/>
        </p:spPr>
      </p:sp>
      <p:sp>
        <p:nvSpPr>
          <p:cNvPr id="97" name="Text 95"/>
          <p:cNvSpPr/>
          <p:nvPr/>
        </p:nvSpPr>
        <p:spPr>
          <a:xfrm>
            <a:off x="5158223" y="2041875"/>
            <a:ext cx="347472" cy="299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8" name="Text 96"/>
          <p:cNvSpPr/>
          <p:nvPr/>
        </p:nvSpPr>
        <p:spPr>
          <a:xfrm>
            <a:off x="5536679" y="1948672"/>
            <a:ext cx="2377440" cy="484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thread gets diagonal range of size  (rows + nnz) / threads</a:t>
            </a:r>
            <a:endParaRPr lang="en-US" sz="1050" dirty="0"/>
          </a:p>
        </p:txBody>
      </p:sp>
      <p:sp>
        <p:nvSpPr>
          <p:cNvPr id="99" name="Shape 97"/>
          <p:cNvSpPr/>
          <p:nvPr/>
        </p:nvSpPr>
        <p:spPr>
          <a:xfrm>
            <a:off x="5158223" y="2554982"/>
            <a:ext cx="347472" cy="299193"/>
          </a:xfrm>
          <a:prstGeom prst="roundRect">
            <a:avLst>
              <a:gd name="adj" fmla="val 15789"/>
            </a:avLst>
          </a:prstGeom>
          <a:solidFill>
            <a:srgbClr val="1E3A5F"/>
          </a:solidFill>
          <a:ln/>
        </p:spPr>
      </p:sp>
      <p:sp>
        <p:nvSpPr>
          <p:cNvPr id="100" name="Text 98"/>
          <p:cNvSpPr/>
          <p:nvPr/>
        </p:nvSpPr>
        <p:spPr>
          <a:xfrm>
            <a:off x="5158223" y="2549063"/>
            <a:ext cx="347472" cy="299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01" name="Text 99"/>
          <p:cNvSpPr/>
          <p:nvPr/>
        </p:nvSpPr>
        <p:spPr>
          <a:xfrm>
            <a:off x="5536679" y="2455860"/>
            <a:ext cx="2377440" cy="484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search along starting diagonal → finds (row_idx, nz_idx)</a:t>
            </a:r>
            <a:endParaRPr lang="en-US" sz="1050" dirty="0"/>
          </a:p>
        </p:txBody>
      </p:sp>
      <p:sp>
        <p:nvSpPr>
          <p:cNvPr id="102" name="Shape 100"/>
          <p:cNvSpPr/>
          <p:nvPr/>
        </p:nvSpPr>
        <p:spPr>
          <a:xfrm>
            <a:off x="5158223" y="3056251"/>
            <a:ext cx="347472" cy="299193"/>
          </a:xfrm>
          <a:prstGeom prst="roundRect">
            <a:avLst>
              <a:gd name="adj" fmla="val 15789"/>
            </a:avLst>
          </a:prstGeom>
          <a:solidFill>
            <a:srgbClr val="0D9488"/>
          </a:solidFill>
          <a:ln/>
        </p:spPr>
      </p:sp>
      <p:sp>
        <p:nvSpPr>
          <p:cNvPr id="103" name="Text 101"/>
          <p:cNvSpPr/>
          <p:nvPr/>
        </p:nvSpPr>
        <p:spPr>
          <a:xfrm>
            <a:off x="5158223" y="3056251"/>
            <a:ext cx="347472" cy="299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04" name="Text 102"/>
          <p:cNvSpPr/>
          <p:nvPr/>
        </p:nvSpPr>
        <p:spPr>
          <a:xfrm>
            <a:off x="5536679" y="2963048"/>
            <a:ext cx="2377440" cy="484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walks forward: moving DOWN = consume a nonzero, multiply &amp; add</a:t>
            </a:r>
            <a:endParaRPr lang="en-US" sz="1050" dirty="0"/>
          </a:p>
        </p:txBody>
      </p:sp>
      <p:sp>
        <p:nvSpPr>
          <p:cNvPr id="105" name="Shape 103"/>
          <p:cNvSpPr/>
          <p:nvPr/>
        </p:nvSpPr>
        <p:spPr>
          <a:xfrm>
            <a:off x="5158223" y="3563439"/>
            <a:ext cx="347472" cy="299193"/>
          </a:xfrm>
          <a:prstGeom prst="roundRect">
            <a:avLst>
              <a:gd name="adj" fmla="val 15789"/>
            </a:avLst>
          </a:prstGeom>
          <a:solidFill>
            <a:srgbClr val="1E3A5F"/>
          </a:solidFill>
          <a:ln/>
        </p:spPr>
      </p:sp>
      <p:sp>
        <p:nvSpPr>
          <p:cNvPr id="106" name="Text 104"/>
          <p:cNvSpPr/>
          <p:nvPr/>
        </p:nvSpPr>
        <p:spPr>
          <a:xfrm>
            <a:off x="5158223" y="3563439"/>
            <a:ext cx="347472" cy="299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07" name="Text 105"/>
          <p:cNvSpPr/>
          <p:nvPr/>
        </p:nvSpPr>
        <p:spPr>
          <a:xfrm>
            <a:off x="5536679" y="3470236"/>
            <a:ext cx="2377440" cy="484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RIGHT = finished a row → write y[row], reset accumulator</a:t>
            </a:r>
            <a:endParaRPr lang="en-US" sz="1050" dirty="0"/>
          </a:p>
        </p:txBody>
      </p:sp>
      <p:sp>
        <p:nvSpPr>
          <p:cNvPr id="108" name="Shape 106"/>
          <p:cNvSpPr/>
          <p:nvPr/>
        </p:nvSpPr>
        <p:spPr>
          <a:xfrm>
            <a:off x="5158223" y="4070627"/>
            <a:ext cx="347472" cy="299193"/>
          </a:xfrm>
          <a:prstGeom prst="roundRect">
            <a:avLst>
              <a:gd name="adj" fmla="val 15789"/>
            </a:avLst>
          </a:prstGeom>
          <a:solidFill>
            <a:srgbClr val="0D9488"/>
          </a:solidFill>
          <a:ln/>
        </p:spPr>
      </p:sp>
      <p:sp>
        <p:nvSpPr>
          <p:cNvPr id="109" name="Text 107"/>
          <p:cNvSpPr/>
          <p:nvPr/>
        </p:nvSpPr>
        <p:spPr>
          <a:xfrm>
            <a:off x="5158223" y="4070627"/>
            <a:ext cx="347472" cy="299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110" name="Text 108"/>
          <p:cNvSpPr/>
          <p:nvPr/>
        </p:nvSpPr>
        <p:spPr>
          <a:xfrm>
            <a:off x="5544236" y="3969191"/>
            <a:ext cx="2377440" cy="484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rows fixed up after parallel section</a:t>
            </a:r>
            <a:endParaRPr lang="en-US" sz="1050" dirty="0"/>
          </a:p>
        </p:txBody>
      </p:sp>
      <p:pic>
        <p:nvPicPr>
          <p:cNvPr id="113" name="Picture 112">
            <a:extLst>
              <a:ext uri="{FF2B5EF4-FFF2-40B4-BE49-F238E27FC236}">
                <a16:creationId xmlns:a16="http://schemas.microsoft.com/office/drawing/2014/main" id="{9D50C4F8-344C-2F90-E9AE-B6B835A47E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585" y="1571509"/>
            <a:ext cx="3179419" cy="3344346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— 3 Threads on a 4-Row Matrix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86384"/>
            <a:ext cx="8229600" cy="1828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A: 4 rows, 8 nonzeros    row_offsets = [0, 2, 2, 4, 8]    Total merge path = 4 + 8 = 12 steps → 4 steps/thread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468880" cy="30998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2468880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" y="1371600"/>
            <a:ext cx="2343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1: Binary Search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1783080"/>
            <a:ext cx="248716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Diagonal 0 → Thread 0 starts at (row=0, nz=0)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Diagonal 4 → Thread 1 starts at (row=2, nz=2)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Diagonal 8 → Thread 2 starts at (row=3, nz=5)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binary search = O(log(rows+nnz))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1371600"/>
            <a:ext cx="2468880" cy="30998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1371600"/>
            <a:ext cx="2468880" cy="34747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1" name="Text 9"/>
          <p:cNvSpPr/>
          <p:nvPr/>
        </p:nvSpPr>
        <p:spPr>
          <a:xfrm>
            <a:off x="3410712" y="1371600"/>
            <a:ext cx="2343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2: Each Thread Consumes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47288" y="1783080"/>
            <a:ext cx="248716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T0: rows 0-1 → y[0]=1+1=2, y[1]=0 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(empty row)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T1: partial row 2 → accumulates y[2] 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T2: completes row 2 + does row 3 fully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threads work on exactly 4 items each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1371600"/>
            <a:ext cx="2468880" cy="30815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371600"/>
            <a:ext cx="2468880" cy="347472"/>
          </a:xfrm>
          <a:prstGeom prst="rect">
            <a:avLst/>
          </a:prstGeom>
          <a:solidFill>
            <a:srgbClr val="E05A3A"/>
          </a:solidFill>
          <a:ln/>
        </p:spPr>
      </p:sp>
      <p:sp>
        <p:nvSpPr>
          <p:cNvPr id="15" name="Text 13"/>
          <p:cNvSpPr/>
          <p:nvPr/>
        </p:nvSpPr>
        <p:spPr>
          <a:xfrm>
            <a:off x="6291072" y="1371600"/>
            <a:ext cx="2343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3: Fix-Up Pass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27648" y="1783080"/>
            <a:ext cx="248716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2 spans T1 and T2 → carry-out 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fix-up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y[2] += carry from Thread 1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sequential pass over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num_threads-1 values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Overhead is negligible (O(threads) not O(nnz))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" y="4681728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Key guarantee: No thread ever gets more than  ⌈(rows + nnz) / threads⌉  items — regardless of matrix structure.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Five Implementations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86384"/>
            <a:ext cx="8229600" cy="1828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32688"/>
            <a:ext cx="8229600" cy="72237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32688"/>
            <a:ext cx="91440" cy="72237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6" name="Shape 4"/>
          <p:cNvSpPr/>
          <p:nvPr/>
        </p:nvSpPr>
        <p:spPr>
          <a:xfrm>
            <a:off x="621792" y="1115568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64748B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11155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8992" y="10058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Sequential Baseline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0" y="1024128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64748B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0241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CSR loop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78992" y="1298448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Standard row-loop. Single thread. Reference for correctness &amp; speedup baseline.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1728216"/>
            <a:ext cx="8229600" cy="72237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1728216"/>
            <a:ext cx="91440" cy="7223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Shape 12"/>
          <p:cNvSpPr/>
          <p:nvPr/>
        </p:nvSpPr>
        <p:spPr>
          <a:xfrm>
            <a:off x="621792" y="1911096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" y="19110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78992" y="18013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OMP Merge-Path Scalar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846320" y="1819656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181965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OpenMP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78992" y="2093976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Algorithm 2 from paper. Each OpenMP thread binary-searches its diagonal, then walks path sequentially.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2523744"/>
            <a:ext cx="8229600" cy="72237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2523744"/>
            <a:ext cx="91440" cy="72237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2" name="Shape 20"/>
          <p:cNvSpPr/>
          <p:nvPr/>
        </p:nvSpPr>
        <p:spPr>
          <a:xfrm>
            <a:off x="621792" y="2706624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1E3A5F"/>
          </a:solidFill>
          <a:ln/>
        </p:spPr>
      </p:sp>
      <p:sp>
        <p:nvSpPr>
          <p:cNvPr id="23" name="Text 21"/>
          <p:cNvSpPr/>
          <p:nvPr/>
        </p:nvSpPr>
        <p:spPr>
          <a:xfrm>
            <a:off x="621792" y="2706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78992" y="259689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OMP Merge-Path AVX2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46320" y="2615184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1E3A5F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26151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AVX2 FMA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78992" y="2889504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Inner loop vectorized with 256-bit AVX2. 4× double FMA per instruction. _mm256_i32gather_pd for x[] reads.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3319272"/>
            <a:ext cx="8229600" cy="72237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3319272"/>
            <a:ext cx="91440" cy="722376"/>
          </a:xfrm>
          <a:prstGeom prst="rect">
            <a:avLst/>
          </a:prstGeom>
          <a:solidFill>
            <a:srgbClr val="E05A3A"/>
          </a:solidFill>
          <a:ln/>
        </p:spPr>
      </p:sp>
      <p:sp>
        <p:nvSpPr>
          <p:cNvPr id="30" name="Shape 28"/>
          <p:cNvSpPr/>
          <p:nvPr/>
        </p:nvSpPr>
        <p:spPr>
          <a:xfrm>
            <a:off x="621792" y="3502152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E05A3A"/>
          </a:solidFill>
          <a:ln/>
        </p:spPr>
      </p:sp>
      <p:sp>
        <p:nvSpPr>
          <p:cNvPr id="31" name="Text 29"/>
          <p:cNvSpPr/>
          <p:nvPr/>
        </p:nvSpPr>
        <p:spPr>
          <a:xfrm>
            <a:off x="621792" y="35021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78992" y="339242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OMP AVX2 Unrolled ×2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846320" y="3410712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E05A3A"/>
          </a:solidFill>
          <a:ln/>
        </p:spPr>
      </p:sp>
      <p:sp>
        <p:nvSpPr>
          <p:cNvPr id="34" name="Text 32"/>
          <p:cNvSpPr/>
          <p:nvPr/>
        </p:nvSpPr>
        <p:spPr>
          <a:xfrm>
            <a:off x="4846320" y="34107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AVX2 + Unroll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78992" y="3685032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Two independent FMA accumulator chains (vs0, vs1). Breaks 4-cycle FMA latency dependency → 2× FMA throughput.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57200" y="4114800"/>
            <a:ext cx="8229600" cy="72237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57200" y="4114800"/>
            <a:ext cx="91440" cy="7223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8" name="Shape 36"/>
          <p:cNvSpPr/>
          <p:nvPr/>
        </p:nvSpPr>
        <p:spPr>
          <a:xfrm>
            <a:off x="621792" y="4297680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F5A623"/>
          </a:solidFill>
          <a:ln/>
        </p:spPr>
      </p:sp>
      <p:sp>
        <p:nvSpPr>
          <p:cNvPr id="39" name="Text 37"/>
          <p:cNvSpPr/>
          <p:nvPr/>
        </p:nvSpPr>
        <p:spPr>
          <a:xfrm>
            <a:off x="621792" y="4297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078992" y="41879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OMP AVX2 + Prefetch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846320" y="4206240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F5A623"/>
          </a:solidFill>
          <a:ln/>
        </p:spPr>
      </p:sp>
      <p:sp>
        <p:nvSpPr>
          <p:cNvPr id="42" name="Text 40"/>
          <p:cNvSpPr/>
          <p:nvPr/>
        </p:nvSpPr>
        <p:spPr>
          <a:xfrm>
            <a:off x="4846320" y="42062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+ SW Prefetch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078992" y="448056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Adds __builtin_prefetch ahead by pf_dist nonzeros. Hides DRAM latency for x[col[i]] gather accesses.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thermomech_dK  (Regular Matrix, CV ≈ 0.10)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86384"/>
            <a:ext cx="8229600" cy="1828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</a:rPr>
              <a:t>2,846,228 nonzeros · uniform row lengths · data fits mostly in L3 cache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Speedup vs. Sequential Baseline (avg. of 4 runs)</a:t>
            </a:r>
            <a:endParaRPr lang="en-US" sz="1100" dirty="0"/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3153633928"/>
              </p:ext>
            </p:extLst>
          </p:nvPr>
        </p:nvGraphicFramePr>
        <p:xfrm>
          <a:off x="457200" y="1417320"/>
          <a:ext cx="5029200" cy="26176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669280" y="1143000"/>
            <a:ext cx="2971800" cy="351375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760720" y="12161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Key Observations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760720" y="1657526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0D9488"/>
          </a:solidFill>
          <a:ln/>
        </p:spPr>
      </p:sp>
      <p:sp>
        <p:nvSpPr>
          <p:cNvPr id="10" name="Text 7"/>
          <p:cNvSpPr/>
          <p:nvPr/>
        </p:nvSpPr>
        <p:spPr>
          <a:xfrm>
            <a:off x="5760720" y="165752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199632" y="157276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OMP Scalar (×2.84) — thread parallelism alone gives biggest boost for regular matrices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760720" y="2251886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1E3A5F"/>
          </a:solidFill>
          <a:ln/>
        </p:spPr>
      </p:sp>
      <p:sp>
        <p:nvSpPr>
          <p:cNvPr id="13" name="Text 10"/>
          <p:cNvSpPr/>
          <p:nvPr/>
        </p:nvSpPr>
        <p:spPr>
          <a:xfrm>
            <a:off x="5760720" y="225188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199632" y="216712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AVX2 vectorization adds modest gain; regular matrices already stress the memory bus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760720" y="2846246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0D9488"/>
          </a:solidFill>
          <a:ln/>
        </p:spPr>
      </p:sp>
      <p:sp>
        <p:nvSpPr>
          <p:cNvPr id="16" name="Text 13"/>
          <p:cNvSpPr/>
          <p:nvPr/>
        </p:nvSpPr>
        <p:spPr>
          <a:xfrm>
            <a:off x="5760720" y="284624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199632" y="276148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Unroll ×2 inconsistent — sometimes slower due to register pressure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760720" y="3440606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1E3A5F"/>
          </a:solidFill>
          <a:ln/>
        </p:spPr>
      </p:sp>
      <p:sp>
        <p:nvSpPr>
          <p:cNvPr id="19" name="Text 16"/>
          <p:cNvSpPr/>
          <p:nvPr/>
        </p:nvSpPr>
        <p:spPr>
          <a:xfrm>
            <a:off x="5760720" y="344060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199632" y="335584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Prefetch helps when rows are long enough (pf_dist=32 works well here)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760720" y="4034966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0D9488"/>
          </a:solidFill>
          <a:ln/>
        </p:spPr>
      </p:sp>
      <p:sp>
        <p:nvSpPr>
          <p:cNvPr id="22" name="Text 19"/>
          <p:cNvSpPr/>
          <p:nvPr/>
        </p:nvSpPr>
        <p:spPr>
          <a:xfrm>
            <a:off x="5760720" y="403496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6199632" y="395020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All 5 approaches pass correctness check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57200" y="3983427"/>
            <a:ext cx="1499616" cy="673331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457200" y="4069048"/>
            <a:ext cx="1499616" cy="359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3A5F"/>
                </a:solidFill>
              </a:rPr>
              <a:t>1.67 GFLOPs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457200" y="4382438"/>
            <a:ext cx="14996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Baseline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2221992" y="3983427"/>
            <a:ext cx="1499616" cy="673331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2221992" y="4069048"/>
            <a:ext cx="1499616" cy="359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3A5F"/>
                </a:solidFill>
              </a:rPr>
              <a:t>4.09 GFLOPs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2221992" y="4382438"/>
            <a:ext cx="14996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Best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3986784" y="3983427"/>
            <a:ext cx="1499616" cy="673331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3986784" y="4069048"/>
            <a:ext cx="1499616" cy="359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3A5F"/>
                </a:solidFill>
              </a:rPr>
              <a:t>×3.43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3986784" y="4382438"/>
            <a:ext cx="14996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Best Speedup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ASIC_320k  (Irregular Matrix, CV ≈ 61)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86384"/>
            <a:ext cx="8229600" cy="1828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</a:rPr>
              <a:t>2,635,364 nonzeros · extreme row-length variation (circuit simulation) · x[] accesses highly random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Speedup vs. Sequential Baseline (avg. of 3 runs)</a:t>
            </a:r>
            <a:endParaRPr lang="en-US" sz="1100" dirty="0"/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1563946212"/>
              </p:ext>
            </p:extLst>
          </p:nvPr>
        </p:nvGraphicFramePr>
        <p:xfrm>
          <a:off x="457200" y="1417320"/>
          <a:ext cx="5029200" cy="25831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669280" y="1143000"/>
            <a:ext cx="29718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760720" y="12161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Key Observations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760720" y="1677924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E05A3A"/>
          </a:solidFill>
          <a:ln/>
        </p:spPr>
      </p:sp>
      <p:sp>
        <p:nvSpPr>
          <p:cNvPr id="10" name="Text 7"/>
          <p:cNvSpPr/>
          <p:nvPr/>
        </p:nvSpPr>
        <p:spPr>
          <a:xfrm>
            <a:off x="5760720" y="16779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199632" y="157276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Merge-path shines here — row imbalance eliminated, scalar OMP still ×3.0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760720" y="2272284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1E3A5F"/>
          </a:solidFill>
          <a:ln/>
        </p:spPr>
      </p:sp>
      <p:sp>
        <p:nvSpPr>
          <p:cNvPr id="13" name="Text 10"/>
          <p:cNvSpPr/>
          <p:nvPr/>
        </p:nvSpPr>
        <p:spPr>
          <a:xfrm>
            <a:off x="5760720" y="22722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199632" y="216712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Row-based OpenMP would have failed badly on this matrix (CV=61!)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760720" y="2866644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E05A3A"/>
          </a:solidFill>
          <a:ln/>
        </p:spPr>
      </p:sp>
      <p:sp>
        <p:nvSpPr>
          <p:cNvPr id="16" name="Text 13"/>
          <p:cNvSpPr/>
          <p:nvPr/>
        </p:nvSpPr>
        <p:spPr>
          <a:xfrm>
            <a:off x="5760720" y="28666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199632" y="276148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AVX2 gathers hit cache misses on random col[] → less benefit than expected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760720" y="3461004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1E3A5F"/>
          </a:solidFill>
          <a:ln/>
        </p:spPr>
      </p:sp>
      <p:sp>
        <p:nvSpPr>
          <p:cNvPr id="19" name="Text 16"/>
          <p:cNvSpPr/>
          <p:nvPr/>
        </p:nvSpPr>
        <p:spPr>
          <a:xfrm>
            <a:off x="5760720" y="34610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199632" y="335584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Prefetch (d=32) slightly hurt — cache pollution on short-row matrices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760720" y="4055364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E05A3A"/>
          </a:solidFill>
          <a:ln/>
        </p:spPr>
      </p:sp>
      <p:sp>
        <p:nvSpPr>
          <p:cNvPr id="22" name="Text 19"/>
          <p:cNvSpPr/>
          <p:nvPr/>
        </p:nvSpPr>
        <p:spPr>
          <a:xfrm>
            <a:off x="5760720" y="40553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6199632" y="395020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Unrolled ×2 also regresses slightly vs AVX2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57200" y="4082796"/>
            <a:ext cx="1499616" cy="548640"/>
          </a:xfrm>
          <a:prstGeom prst="rect">
            <a:avLst/>
          </a:prstGeom>
          <a:solidFill>
            <a:srgbClr val="FFF7ED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457200" y="4110228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05A3A"/>
                </a:solidFill>
              </a:rPr>
              <a:t>1.55 GFLOPs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457200" y="4402836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Baseline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2221992" y="4082796"/>
            <a:ext cx="1499616" cy="548640"/>
          </a:xfrm>
          <a:prstGeom prst="rect">
            <a:avLst/>
          </a:prstGeom>
          <a:solidFill>
            <a:srgbClr val="FFF7ED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2221992" y="4110228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05A3A"/>
                </a:solidFill>
              </a:rPr>
              <a:t>3.45 GFLOPs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2221992" y="4402836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Best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3986784" y="4082796"/>
            <a:ext cx="1499616" cy="548640"/>
          </a:xfrm>
          <a:prstGeom prst="rect">
            <a:avLst/>
          </a:prstGeom>
          <a:solidFill>
            <a:srgbClr val="FFF7ED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3986784" y="4110228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05A3A"/>
                </a:solidFill>
              </a:rPr>
              <a:t>×3.44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3986784" y="4402836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Best Speedup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Head-to-Head: Regular vs. Irregular Matrix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86384"/>
            <a:ext cx="8229600" cy="18288"/>
          </a:xfrm>
          <a:prstGeom prst="rect">
            <a:avLst/>
          </a:prstGeom>
          <a:solidFill>
            <a:srgbClr val="0D9488"/>
          </a:solidFill>
          <a:ln/>
        </p:spPr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936940163"/>
              </p:ext>
            </p:extLst>
          </p:nvPr>
        </p:nvGraphicFramePr>
        <p:xfrm>
          <a:off x="457199" y="1005840"/>
          <a:ext cx="5511521" cy="36393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172200" y="1005840"/>
            <a:ext cx="25603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172200" y="1005840"/>
            <a:ext cx="2560320" cy="2926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4"/>
          <p:cNvSpPr/>
          <p:nvPr/>
        </p:nvSpPr>
        <p:spPr>
          <a:xfrm>
            <a:off x="6245352" y="100584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Regular matrix (thermomech)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245352" y="1353312"/>
            <a:ext cx="239572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OMP Scalar wins because rows are uniform — all threads finish together. AVX2 gains are modest since the bottleneck is memory bandwidth, not compute.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172200" y="2926080"/>
            <a:ext cx="25603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172200" y="2926080"/>
            <a:ext cx="2560320" cy="292608"/>
          </a:xfrm>
          <a:prstGeom prst="rect">
            <a:avLst/>
          </a:prstGeom>
          <a:solidFill>
            <a:srgbClr val="E05A3A"/>
          </a:solidFill>
          <a:ln/>
        </p:spPr>
      </p:sp>
      <p:sp>
        <p:nvSpPr>
          <p:cNvPr id="11" name="Text 8"/>
          <p:cNvSpPr/>
          <p:nvPr/>
        </p:nvSpPr>
        <p:spPr>
          <a:xfrm>
            <a:off x="6245352" y="292608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Irregular matrix (ASIC_320k)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245352" y="3273552"/>
            <a:ext cx="239572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OMP Scalar performs slightly better here too — merge-path eliminates the imbalance that would cripple a row-based approach. AVX2 gathers hit L3/DRAM misses on random column indices.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Hardware-Level Analysis — Roofline Model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86384"/>
            <a:ext cx="8229600" cy="1828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14400"/>
            <a:ext cx="50292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48640" y="98755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Roofline Model for SpMV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4754880" cy="36118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F0000"/>
                </a:solidFill>
                <a:latin typeface="Calibri" pitchFamily="34" charset="0"/>
              </a:rPr>
              <a:t>Arithmetic Intensity (AI) = FLOPs / Bytes</a:t>
            </a:r>
            <a:endParaRPr lang="en-US" sz="1150" dirty="0">
              <a:solidFill>
                <a:srgbClr val="FF0000"/>
              </a:solidFill>
            </a:endParaRPr>
          </a:p>
          <a:p>
            <a:pPr marL="18288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</a:rPr>
              <a:t>SpMV: 2·nnz FLOPs</a:t>
            </a:r>
            <a:endParaRPr lang="en-US" sz="1100" dirty="0"/>
          </a:p>
          <a:p>
            <a:pPr marL="18288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</a:rPr>
              <a:t>Bytes ≈ nnz×(8+4+8) + rows×(4+8)</a:t>
            </a:r>
            <a:endParaRPr lang="en-US" sz="1100" dirty="0"/>
          </a:p>
          <a:p>
            <a:pPr marL="36576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</a:rPr>
              <a:t>= nnz×20 + rows×12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</a:rPr>
              <a:t>For our matrices:</a:t>
            </a:r>
            <a:endParaRPr lang="en-US" sz="1100" dirty="0"/>
          </a:p>
          <a:p>
            <a:pPr marL="18288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</a:rPr>
              <a:t>thermomech:  AI ≈ 0.095 FLOP/byte</a:t>
            </a:r>
            <a:endParaRPr lang="en-US" sz="1100" dirty="0"/>
          </a:p>
          <a:p>
            <a:pPr marL="18288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</a:rPr>
              <a:t>ASIC_320k:   AI ≈ 0.091 FLOP/byte</a:t>
            </a:r>
          </a:p>
          <a:p>
            <a:pPr marL="182880" indent="0">
              <a:buNone/>
            </a:pPr>
            <a:endParaRPr lang="en-US" sz="1100" dirty="0">
              <a:solidFill>
                <a:srgbClr val="1E293B"/>
              </a:solidFill>
              <a:latin typeface="Calibri" pitchFamily="34" charset="0"/>
            </a:endParaRPr>
          </a:p>
          <a:p>
            <a:pPr marL="182880" indent="0">
              <a:buNone/>
            </a:pPr>
            <a:endParaRPr lang="en-US" sz="1100" dirty="0">
              <a:solidFill>
                <a:srgbClr val="1E293B"/>
              </a:solidFill>
              <a:latin typeface="Calibri" pitchFamily="34" charset="0"/>
            </a:endParaRPr>
          </a:p>
          <a:p>
            <a:pPr marL="18288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E05A3A"/>
                </a:solidFill>
                <a:latin typeface="Calibri" pitchFamily="34" charset="0"/>
              </a:rPr>
              <a:t>Both are deeply memory-bound.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E05A3A"/>
                </a:solidFill>
                <a:latin typeface="Calibri" pitchFamily="34" charset="0"/>
              </a:rPr>
              <a:t>Roofline ridge ≈ 100+ FLOP/byte on modern CPUs.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E05A3A"/>
                </a:solidFill>
                <a:latin typeface="Calibri" pitchFamily="34" charset="0"/>
              </a:rPr>
              <a:t>We are 1000× below the ridge.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E05A3A"/>
                </a:solidFill>
                <a:latin typeface="Calibri" pitchFamily="34" charset="0"/>
              </a:rPr>
              <a:t>→ Adding more SIMD/FMAs won’t help.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E05A3A"/>
                </a:solidFill>
                <a:latin typeface="Calibri" pitchFamily="34" charset="0"/>
              </a:rPr>
              <a:t>→ Reducing memory traffic is the only lever.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0" y="914400"/>
            <a:ext cx="301752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760720" y="98755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Binding Regime Analysis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0" y="1353312"/>
            <a:ext cx="109728" cy="777240"/>
          </a:xfrm>
          <a:prstGeom prst="rect">
            <a:avLst/>
          </a:prstGeom>
          <a:solidFill>
            <a:srgbClr val="E05A3A"/>
          </a:solidFill>
          <a:ln/>
        </p:spPr>
      </p:sp>
      <p:sp>
        <p:nvSpPr>
          <p:cNvPr id="10" name="Text 8"/>
          <p:cNvSpPr/>
          <p:nvPr/>
        </p:nvSpPr>
        <p:spPr>
          <a:xfrm>
            <a:off x="5852160" y="13716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5A3A"/>
                </a:solidFill>
              </a:rPr>
              <a:t>Memory-Bound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52160" y="162763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BW saturated, threads don't scale above ~×3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138160" y="137160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5A3A"/>
                </a:solidFill>
              </a:rPr>
              <a:t>◀ US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669280" y="2221992"/>
            <a:ext cx="109728" cy="77724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4" name="Text 12"/>
          <p:cNvSpPr/>
          <p:nvPr/>
        </p:nvSpPr>
        <p:spPr>
          <a:xfrm>
            <a:off x="5852160" y="22402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</a:rPr>
              <a:t>Compute-Bound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852160" y="249631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GFLOPs near peak; perfect thread scaling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138160" y="224028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69280" y="3090672"/>
            <a:ext cx="109728" cy="7772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5852160" y="31089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</a:rPr>
              <a:t>Sync Overhead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852160" y="336499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Efficiency drops at high thread count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138160" y="310896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669280" y="3959352"/>
            <a:ext cx="109728" cy="7772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2" name="Text 20"/>
          <p:cNvSpPr/>
          <p:nvPr/>
        </p:nvSpPr>
        <p:spPr>
          <a:xfrm>
            <a:off x="5852160" y="39776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Poor Locality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852160" y="423367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Low BW even at low thread count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138160" y="397764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</a:rPr>
              <a:t>◀ US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AVX2 Didn’t Outperform Scalar — Memory Bottleneck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86384"/>
            <a:ext cx="8229600" cy="1828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13339"/>
            <a:ext cx="3977640" cy="3294654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893046"/>
            <a:ext cx="3977640" cy="533417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8338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Expected (Compute View)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64632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✓  AVX2 FMA processes 4 doubles simultaneously → 4× compute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2268114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✓  Unroll ×2 breaks FMA latency chain → another 2× compute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889906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✓  Total expected: up to 8× improvement in inner loop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914400"/>
            <a:ext cx="3977640" cy="3593592"/>
          </a:xfrm>
          <a:prstGeom prst="rect">
            <a:avLst/>
          </a:prstGeom>
          <a:solidFill>
            <a:srgbClr val="FFF1F0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914400"/>
            <a:ext cx="3977640" cy="512064"/>
          </a:xfrm>
          <a:prstGeom prst="rect">
            <a:avLst/>
          </a:prstGeom>
          <a:solidFill>
            <a:srgbClr val="E05A3A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99669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Actual (Memory-Bound Reality)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23460" y="159437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✗  Actual gain: AVX2 ≈ 5–15% faster at best, sometimes slower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214301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✗  Root cause: x[col[i]] gather — every access is a potential cache miss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273737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✗  Memory latency (L3: ~30 cycles, DRAM: ~200 cycles) hides all FMA gains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333173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✗  AVX2 gather doesn't prefetch — hardware prefetcher can't predict random col[]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solidFill>
            <a:srgbClr val="FEF3C7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" y="4681728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Lesson: For SpMV, software prefetch (Approach 5) is more valuable than extra FMA lanes — hide latency, not compute.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Analysis — Thread Count vs. Speedup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86384"/>
            <a:ext cx="8229600" cy="18288"/>
          </a:xfrm>
          <a:prstGeom prst="rect">
            <a:avLst/>
          </a:prstGeom>
          <a:solidFill>
            <a:srgbClr val="0D9488"/>
          </a:solidFill>
          <a:ln/>
        </p:spPr>
      </p:sp>
      <p:graphicFrame>
        <p:nvGraphicFramePr>
          <p:cNvPr id="4" name="Chart 0"/>
          <p:cNvGraphicFramePr/>
          <p:nvPr/>
        </p:nvGraphicFramePr>
        <p:xfrm>
          <a:off x="457200" y="1005840"/>
          <a:ext cx="530352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1005840"/>
            <a:ext cx="2651760" cy="3527775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035040" y="10789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Efficiency Analysis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035040" y="1444752"/>
            <a:ext cx="24688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126480" y="14904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9488"/>
                </a:solidFill>
              </a:rPr>
              <a:t>Scalar (8T)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360920" y="14904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D9488"/>
                </a:solidFill>
              </a:rPr>
              <a:t>1.86×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126480" y="1792224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eff: 23%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035040" y="2221992"/>
            <a:ext cx="24688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126480" y="22677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</a:rPr>
              <a:t>AVX2 (8T)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360920" y="226771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E3A5F"/>
                </a:solidFill>
              </a:rPr>
              <a:t>2.61×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126480" y="2569464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eff: 33%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035040" y="2999232"/>
            <a:ext cx="24688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126480" y="3044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5A3A"/>
                </a:solidFill>
              </a:rPr>
              <a:t>Unrolled (8T)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360920" y="3044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05A3A"/>
                </a:solidFill>
              </a:rPr>
              <a:t>2.72×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126480" y="3346704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eff: 34%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035040" y="3776472"/>
            <a:ext cx="2468880" cy="658368"/>
          </a:xfrm>
          <a:prstGeom prst="rect">
            <a:avLst/>
          </a:prstGeom>
          <a:solidFill>
            <a:srgbClr val="F0FDF4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126480" y="38221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</a:rPr>
              <a:t>Perfect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360920" y="382219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6A34A"/>
                </a:solidFill>
              </a:rPr>
              <a:t>8.0×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126480" y="4123944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eff: 100%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943600" y="4561047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Low efficiency confirms memory-bound bottleneck — more threads contend for same memory bus.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Usage — Disclosure &amp; Reflection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86384"/>
            <a:ext cx="8229600" cy="1828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73365"/>
            <a:ext cx="2697480" cy="34244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73365"/>
            <a:ext cx="2697480" cy="320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530352" y="1073365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Where LLMs Were Used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626577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626577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87552" y="1493989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Debugging AVX2 horizontal-reduce sequence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66928" y="2312377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312377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87552" y="2179789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Explaining pf_dist cache-pollution behavior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66928" y="2998177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2998177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87552" y="2865589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Reviewing correctness of MergePathSearch binary search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3683977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3683977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87552" y="3551389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CSV/data parsing &amp; results analysis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337560" y="1073365"/>
            <a:ext cx="2697480" cy="34244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337560" y="1073365"/>
            <a:ext cx="2697480" cy="320040"/>
          </a:xfrm>
          <a:prstGeom prst="rect">
            <a:avLst/>
          </a:prstGeom>
          <a:solidFill>
            <a:srgbClr val="E05A3A"/>
          </a:solidFill>
          <a:ln/>
        </p:spPr>
      </p:sp>
      <p:sp>
        <p:nvSpPr>
          <p:cNvPr id="21" name="Text 19"/>
          <p:cNvSpPr/>
          <p:nvPr/>
        </p:nvSpPr>
        <p:spPr>
          <a:xfrm>
            <a:off x="3410712" y="1073365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Limitations Observed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429000" y="1626577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E05A3A"/>
          </a:solidFill>
          <a:ln/>
        </p:spPr>
      </p:sp>
      <p:sp>
        <p:nvSpPr>
          <p:cNvPr id="23" name="Text 21"/>
          <p:cNvSpPr/>
          <p:nvPr/>
        </p:nvSpPr>
        <p:spPr>
          <a:xfrm>
            <a:off x="3429000" y="1626577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867912" y="1493989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LLM initially suggested PF_DIST=16 — caused cache pollution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429000" y="2312377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E05A3A"/>
          </a:solidFill>
          <a:ln/>
        </p:spPr>
      </p:sp>
      <p:sp>
        <p:nvSpPr>
          <p:cNvPr id="26" name="Text 24"/>
          <p:cNvSpPr/>
          <p:nvPr/>
        </p:nvSpPr>
        <p:spPr>
          <a:xfrm>
            <a:off x="3429000" y="2312377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867912" y="2179789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Over-confident answers about cache-line sizes on our CPU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429000" y="2998177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E05A3A"/>
          </a:solidFill>
          <a:ln/>
        </p:spPr>
      </p:sp>
      <p:sp>
        <p:nvSpPr>
          <p:cNvPr id="29" name="Text 27"/>
          <p:cNvSpPr/>
          <p:nvPr/>
        </p:nvSpPr>
        <p:spPr>
          <a:xfrm>
            <a:off x="3429000" y="2998177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867912" y="2865589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Could not replace actual perf/likwid hardware profiling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429000" y="3683977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E05A3A"/>
          </a:solidFill>
          <a:ln/>
        </p:spPr>
      </p:sp>
      <p:sp>
        <p:nvSpPr>
          <p:cNvPr id="32" name="Text 30"/>
          <p:cNvSpPr/>
          <p:nvPr/>
        </p:nvSpPr>
        <p:spPr>
          <a:xfrm>
            <a:off x="3429000" y="3683977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867912" y="3551389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Required human verification of every generated code block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217920" y="1073365"/>
            <a:ext cx="2697480" cy="34244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217920" y="1073365"/>
            <a:ext cx="2697480" cy="3200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6" name="Text 34"/>
          <p:cNvSpPr/>
          <p:nvPr/>
        </p:nvSpPr>
        <p:spPr>
          <a:xfrm>
            <a:off x="6291072" y="1073365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Academic Integrity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327648" y="1626577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1E3A5F"/>
          </a:solidFill>
          <a:ln/>
        </p:spPr>
      </p:sp>
      <p:sp>
        <p:nvSpPr>
          <p:cNvPr id="38" name="Text 36"/>
          <p:cNvSpPr/>
          <p:nvPr/>
        </p:nvSpPr>
        <p:spPr>
          <a:xfrm>
            <a:off x="6327648" y="1626577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748272" y="1493989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Both members understand and can explain all code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327648" y="2312377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1E3A5F"/>
          </a:solidFill>
          <a:ln/>
        </p:spPr>
      </p:sp>
      <p:sp>
        <p:nvSpPr>
          <p:cNvPr id="41" name="Text 39"/>
          <p:cNvSpPr/>
          <p:nvPr/>
        </p:nvSpPr>
        <p:spPr>
          <a:xfrm>
            <a:off x="6327648" y="2312377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748272" y="2179789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LLM was used as a debugging assistant, not a solution generator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327648" y="2998177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1E3A5F"/>
          </a:solidFill>
          <a:ln/>
        </p:spPr>
      </p:sp>
      <p:sp>
        <p:nvSpPr>
          <p:cNvPr id="44" name="Text 42"/>
          <p:cNvSpPr/>
          <p:nvPr/>
        </p:nvSpPr>
        <p:spPr>
          <a:xfrm>
            <a:off x="6327648" y="2998177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6748272" y="2865589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All algorithmic ideas sourced from Merrill &amp; Garland SC'16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327648" y="3683977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1E3A5F"/>
          </a:solidFill>
          <a:ln/>
        </p:spPr>
      </p:sp>
      <p:sp>
        <p:nvSpPr>
          <p:cNvPr id="47" name="Text 45"/>
          <p:cNvSpPr/>
          <p:nvPr/>
        </p:nvSpPr>
        <p:spPr>
          <a:xfrm>
            <a:off x="6327648" y="3683977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6748272" y="3551389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Representative prompts documented in report appendix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8229600" cy="274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05840"/>
            <a:ext cx="8229600" cy="429768"/>
          </a:xfrm>
          <a:prstGeom prst="roundRect">
            <a:avLst>
              <a:gd name="adj" fmla="val 1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084631"/>
            <a:ext cx="347472" cy="272186"/>
          </a:xfrm>
          <a:prstGeom prst="roundRect">
            <a:avLst>
              <a:gd name="adj" fmla="val 15789"/>
            </a:avLst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084631"/>
            <a:ext cx="347472" cy="2721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8992" y="1069848"/>
            <a:ext cx="7406640" cy="343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Merge-path gives strictly balanced work: ≤ ⌈(rows+nnz)/threads⌉ items per thread, regardless of sparsity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1645920"/>
            <a:ext cx="8229600" cy="429768"/>
          </a:xfrm>
          <a:prstGeom prst="roundRect">
            <a:avLst>
              <a:gd name="adj" fmla="val 1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1724711"/>
            <a:ext cx="347472" cy="272186"/>
          </a:xfrm>
          <a:prstGeom prst="roundRect">
            <a:avLst>
              <a:gd name="adj" fmla="val 15789"/>
            </a:avLst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724711"/>
            <a:ext cx="347472" cy="2721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78992" y="1709928"/>
            <a:ext cx="7406640" cy="343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implementation correctly reproduces Algorithm 2 (SC'16) and all 5 approaches pass correctness checks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2286000"/>
            <a:ext cx="8229600" cy="429768"/>
          </a:xfrm>
          <a:prstGeom prst="roundRect">
            <a:avLst>
              <a:gd name="adj" fmla="val 1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2364791"/>
            <a:ext cx="347472" cy="272186"/>
          </a:xfrm>
          <a:prstGeom prst="roundRect">
            <a:avLst>
              <a:gd name="adj" fmla="val 15789"/>
            </a:avLst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364791"/>
            <a:ext cx="347472" cy="2721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78992" y="2350008"/>
            <a:ext cx="7406640" cy="343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Speedups of up to ×3.4 achieved — the bottleneck is memory bandwidth, not compute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2926080"/>
            <a:ext cx="8229600" cy="429768"/>
          </a:xfrm>
          <a:prstGeom prst="roundRect">
            <a:avLst>
              <a:gd name="adj" fmla="val 1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" y="3004871"/>
            <a:ext cx="347472" cy="272186"/>
          </a:xfrm>
          <a:prstGeom prst="roundRect">
            <a:avLst>
              <a:gd name="adj" fmla="val 15789"/>
            </a:avLst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3004871"/>
            <a:ext cx="347472" cy="2721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78992" y="2990088"/>
            <a:ext cx="7406640" cy="343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ASIC_320k (CV=61) shows why merge-path is critical: a row-based approach would have collapsed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3566160"/>
            <a:ext cx="8229600" cy="429768"/>
          </a:xfrm>
          <a:prstGeom prst="roundRect">
            <a:avLst>
              <a:gd name="adj" fmla="val 1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3644951"/>
            <a:ext cx="347472" cy="272186"/>
          </a:xfrm>
          <a:prstGeom prst="roundRect">
            <a:avLst>
              <a:gd name="adj" fmla="val 15789"/>
            </a:avLst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3644951"/>
            <a:ext cx="347472" cy="2721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78992" y="3630168"/>
            <a:ext cx="7406640" cy="343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AVX2 vectorization helps less than expected — random gather accesses dominate latency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57200" y="4206240"/>
            <a:ext cx="8229600" cy="429768"/>
          </a:xfrm>
          <a:prstGeom prst="roundRect">
            <a:avLst>
              <a:gd name="adj" fmla="val 1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" y="4285031"/>
            <a:ext cx="347472" cy="272186"/>
          </a:xfrm>
          <a:prstGeom prst="roundRect">
            <a:avLst>
              <a:gd name="adj" fmla="val 15789"/>
            </a:avLst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4285031"/>
            <a:ext cx="347472" cy="2721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78992" y="4270248"/>
            <a:ext cx="7406640" cy="343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Roofline AI ≈ 0.09 FLOP/byte confirms deep memory-bound regime on both test matrices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Thank you  ·  Questions?</a:t>
            </a:r>
            <a:endParaRPr lang="en-US" sz="15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1639</Words>
  <Application>Microsoft Macintosh PowerPoint</Application>
  <PresentationFormat>On-screen Show (16:9)</PresentationFormat>
  <Paragraphs>268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Merge-Based Parallel SpMV – CS-3006 Milestone 3</dc:title>
  <dc:subject>PptxGenJS Presentation</dc:subject>
  <dc:creator>PptxGenJS</dc:creator>
  <cp:lastModifiedBy>Awais</cp:lastModifiedBy>
  <cp:revision>2</cp:revision>
  <dcterms:created xsi:type="dcterms:W3CDTF">2026-05-10T17:45:26Z</dcterms:created>
  <dcterms:modified xsi:type="dcterms:W3CDTF">2026-05-10T18:59:06Z</dcterms:modified>
</cp:coreProperties>
</file>